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303" r:id="rId2"/>
    <p:sldId id="301" r:id="rId3"/>
    <p:sldId id="258" r:id="rId4"/>
    <p:sldId id="313" r:id="rId5"/>
    <p:sldId id="312" r:id="rId6"/>
    <p:sldId id="311" r:id="rId7"/>
    <p:sldId id="318" r:id="rId8"/>
    <p:sldId id="314" r:id="rId9"/>
    <p:sldId id="315" r:id="rId10"/>
    <p:sldId id="316" r:id="rId11"/>
    <p:sldId id="317" r:id="rId12"/>
    <p:sldId id="310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58" userDrawn="1">
          <p15:clr>
            <a:srgbClr val="A4A3A4"/>
          </p15:clr>
        </p15:guide>
        <p15:guide id="2" pos="7488" userDrawn="1">
          <p15:clr>
            <a:srgbClr val="A4A3A4"/>
          </p15:clr>
        </p15:guide>
        <p15:guide id="3" orient="horz" pos="1584" userDrawn="1">
          <p15:clr>
            <a:srgbClr val="A4A3A4"/>
          </p15:clr>
        </p15:guide>
        <p15:guide id="4" orient="horz" pos="449" userDrawn="1">
          <p15:clr>
            <a:srgbClr val="A4A3A4"/>
          </p15:clr>
        </p15:guide>
        <p15:guide id="7" pos="1912" userDrawn="1">
          <p15:clr>
            <a:srgbClr val="A4A3A4"/>
          </p15:clr>
        </p15:guide>
        <p15:guide id="8" pos="1968" userDrawn="1">
          <p15:clr>
            <a:srgbClr val="A4A3A4"/>
          </p15:clr>
        </p15:guide>
        <p15:guide id="9" pos="3809" userDrawn="1">
          <p15:clr>
            <a:srgbClr val="A4A3A4"/>
          </p15:clr>
        </p15:guide>
        <p15:guide id="10" pos="9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80"/>
    <a:srgbClr val="1E1E1E"/>
    <a:srgbClr val="5941A9"/>
    <a:srgbClr val="3F3F3F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46" autoAdjust="0"/>
    <p:restoredTop sz="96071" autoAdjust="0"/>
  </p:normalViewPr>
  <p:slideViewPr>
    <p:cSldViewPr snapToGrid="0" showGuides="1">
      <p:cViewPr varScale="1">
        <p:scale>
          <a:sx n="87" d="100"/>
          <a:sy n="87" d="100"/>
        </p:scale>
        <p:origin x="90" y="90"/>
      </p:cViewPr>
      <p:guideLst>
        <p:guide pos="658"/>
        <p:guide pos="7488"/>
        <p:guide orient="horz" pos="1584"/>
        <p:guide orient="horz" pos="449"/>
        <p:guide pos="1912"/>
        <p:guide pos="1968"/>
        <p:guide pos="3809"/>
        <p:guide pos="9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251E4-13F5-478F-A055-A94E3EC8E77D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906DD-BB4B-4738-86C2-BD411520A8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7BC35-9E8F-85BA-2CBE-EE27889F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A5AD68-77C5-803B-B9D1-52D6986A4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0C1F7D-C32D-FB98-0FFE-50AA24450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F7A0F0-397A-9515-EBE6-B174AFDEB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835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58A99-4A4A-C99F-97D2-DF5949F99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805566-DAB6-4F04-DF34-1A3CB9C82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BBF66D-5848-3A3C-35CE-22911290A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761114-CA35-F86B-B29F-6DF23A194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286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D3203-09A2-7288-13E6-0405E3E5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574F5C-0605-541A-A468-ED08D29ED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91EE37-3A6F-7C00-A926-BA929547B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D2FCD6-D549-10B5-E1F3-0C0346BF03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191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AFD4C-837A-7773-BA4C-50D4779F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6CD658-B2B0-B798-81D8-F04B3FB1C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415456-DD6B-8F6A-8A8B-09E41EEFD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884FA0-6B41-91E5-13D4-9F17F63A24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43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3D6BE-7726-CB73-42C3-606B077F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1211DE-E4CA-7465-AF8B-F01EABAE8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C11073-BCC4-2E8C-B48B-E19C82BDF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A9B0F-BA76-C756-7C21-385D02D3F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414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AC4D7-6A59-8EFD-5EF6-12FCB4479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71B29F-AABF-BD99-9A66-95D9FD5C2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355BD3-5D1B-CF51-2B4F-F44EDD145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F6EB8A-3B68-2F67-1E99-EEE8055C15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323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3E62D-AE5F-DC9F-FCA5-A651BCA8B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56D9E8-1E26-A311-6953-458102E72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3D6434-C89F-81E9-C126-15C94051A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8C6844-3A5B-662E-F1B2-5F7290908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321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F75F4-00DF-2315-03BA-8BC022A13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B2A48E-BBE6-108C-3B43-9A3B20B71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77AE61-9FAF-101E-D4DA-D654DBEF9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98EFCB-E231-730E-BB92-63EC0C74B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5798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56381"/>
            <a:ext cx="10378818" cy="8239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7627"/>
            <a:ext cx="3932237" cy="10433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18442"/>
            <a:ext cx="3932237" cy="43426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04800" y="324229"/>
            <a:ext cx="7315200" cy="667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42250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9425" y="136525"/>
            <a:ext cx="1428750" cy="3745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8080"/>
                </a:solidFill>
              </a:rPr>
              <a:t>自增自减</a:t>
            </a:r>
            <a:endParaRPr lang="zh-CN" altLang="en-US" b="1" spc="300" dirty="0">
              <a:solidFill>
                <a:srgbClr val="00808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/>
          <p:cNvSpPr txBox="1"/>
          <p:nvPr/>
        </p:nvSpPr>
        <p:spPr>
          <a:xfrm>
            <a:off x="5424386" y="1053574"/>
            <a:ext cx="3779430" cy="82413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spc="300" dirty="0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案例</a:t>
            </a:r>
            <a:r>
              <a:rPr lang="en-US" altLang="zh-CN" sz="2800" b="1" spc="300" dirty="0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(1)</a:t>
            </a:r>
            <a:endParaRPr lang="zh-CN" altLang="en-US" sz="2800" b="1" spc="300" dirty="0">
              <a:solidFill>
                <a:srgbClr val="FF0000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916142" y="1414541"/>
            <a:ext cx="2043123" cy="4083802"/>
            <a:chOff x="2357876" y="1270162"/>
            <a:chExt cx="2043123" cy="4083802"/>
          </a:xfrm>
        </p:grpSpPr>
        <p:sp>
          <p:nvSpPr>
            <p:cNvPr id="63" name="文本框 62"/>
            <p:cNvSpPr txBox="1"/>
            <p:nvPr/>
          </p:nvSpPr>
          <p:spPr>
            <a:xfrm>
              <a:off x="2357876" y="2948495"/>
              <a:ext cx="16123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spc="300">
                  <a:solidFill>
                    <a:srgbClr val="008080"/>
                  </a:solidFill>
                  <a:effectLst>
                    <a:outerShdw blurRad="330200" algn="ctr" rotWithShape="0">
                      <a:prstClr val="black">
                        <a:alpha val="16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目录</a:t>
              </a:r>
            </a:p>
          </p:txBody>
        </p:sp>
        <p:sp>
          <p:nvSpPr>
            <p:cNvPr id="64" name="左大括号 63"/>
            <p:cNvSpPr/>
            <p:nvPr/>
          </p:nvSpPr>
          <p:spPr>
            <a:xfrm>
              <a:off x="3693515" y="1270162"/>
              <a:ext cx="707484" cy="4083802"/>
            </a:xfrm>
            <a:prstGeom prst="leftBrace">
              <a:avLst>
                <a:gd name="adj1" fmla="val 52592"/>
                <a:gd name="adj2" fmla="val 50000"/>
              </a:avLst>
            </a:prstGeom>
            <a:ln w="38100">
              <a:solidFill>
                <a:srgbClr val="0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68" name="文本框 67"/>
          <p:cNvSpPr txBox="1"/>
          <p:nvPr/>
        </p:nvSpPr>
        <p:spPr>
          <a:xfrm>
            <a:off x="5424386" y="4544488"/>
            <a:ext cx="3927671" cy="82413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spc="300" dirty="0">
                <a:solidFill>
                  <a:srgbClr val="008080"/>
                </a:solidFill>
                <a:latin typeface="+mj-ea"/>
                <a:ea typeface="+mj-ea"/>
                <a:cs typeface="+mn-ea"/>
                <a:sym typeface="+mn-lt"/>
              </a:rPr>
              <a:t>案例</a:t>
            </a:r>
            <a:r>
              <a:rPr lang="en-US" altLang="zh-CN" sz="2800" b="1" spc="300" dirty="0">
                <a:solidFill>
                  <a:srgbClr val="008080"/>
                </a:solidFill>
                <a:latin typeface="+mj-ea"/>
                <a:ea typeface="+mj-ea"/>
                <a:cs typeface="+mn-ea"/>
                <a:sym typeface="+mn-lt"/>
              </a:rPr>
              <a:t>(2)</a:t>
            </a:r>
            <a:endParaRPr lang="zh-CN" altLang="en-US" sz="2800" b="1" spc="300" dirty="0">
              <a:solidFill>
                <a:srgbClr val="008080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30DCFA67-54DD-19E9-B3BB-8D95F0FB2663}"/>
              </a:ext>
            </a:extLst>
          </p:cNvPr>
          <p:cNvGrpSpPr/>
          <p:nvPr/>
        </p:nvGrpSpPr>
        <p:grpSpPr>
          <a:xfrm>
            <a:off x="5453349" y="1476260"/>
            <a:ext cx="4197427" cy="3498123"/>
            <a:chOff x="5453349" y="1476260"/>
            <a:chExt cx="4197427" cy="349812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9A8BB85-DE75-02FB-D00B-22A50E1F078C}"/>
                </a:ext>
              </a:extLst>
            </p:cNvPr>
            <p:cNvSpPr/>
            <p:nvPr/>
          </p:nvSpPr>
          <p:spPr>
            <a:xfrm>
              <a:off x="5453349" y="1476260"/>
              <a:ext cx="4197427" cy="304065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28A681A-7653-2E84-3F72-7FD4B80AEF7E}"/>
                </a:ext>
              </a:extLst>
            </p:cNvPr>
            <p:cNvSpPr txBox="1"/>
            <p:nvPr/>
          </p:nvSpPr>
          <p:spPr>
            <a:xfrm>
              <a:off x="6610119" y="4605051"/>
              <a:ext cx="2137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Java</a:t>
              </a:r>
              <a:r>
                <a:rPr lang="zh-CN" altLang="en-US" dirty="0"/>
                <a:t>虚拟机栈内存</a:t>
              </a:r>
            </a:p>
          </p:txBody>
        </p:sp>
      </p:grpSp>
      <p:sp>
        <p:nvSpPr>
          <p:cNvPr id="6" name="标题 3"/>
          <p:cNvSpPr txBox="1"/>
          <p:nvPr/>
        </p:nvSpPr>
        <p:spPr>
          <a:xfrm>
            <a:off x="687916" y="559331"/>
            <a:ext cx="4188883" cy="5752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spc="300" dirty="0">
                <a:solidFill>
                  <a:srgbClr val="008080"/>
                </a:solidFill>
              </a:rPr>
              <a:t>案例</a:t>
            </a:r>
            <a:r>
              <a:rPr lang="en-US" altLang="zh-CN" sz="3200" b="1" spc="300" dirty="0">
                <a:solidFill>
                  <a:srgbClr val="008080"/>
                </a:solidFill>
              </a:rPr>
              <a:t>(1)</a:t>
            </a:r>
            <a:endParaRPr lang="zh-CN" altLang="en-US" sz="3200" b="1" spc="300" dirty="0">
              <a:solidFill>
                <a:srgbClr val="008080"/>
              </a:solidFill>
            </a:endParaRPr>
          </a:p>
          <a:p>
            <a:endParaRPr lang="zh-CN" altLang="en-US" sz="3200" b="1" spc="300" dirty="0">
              <a:solidFill>
                <a:srgbClr val="00808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E45FCB-D510-1363-6EA3-67D4193C1810}"/>
              </a:ext>
            </a:extLst>
          </p:cNvPr>
          <p:cNvSpPr txBox="1"/>
          <p:nvPr/>
        </p:nvSpPr>
        <p:spPr>
          <a:xfrm>
            <a:off x="925417" y="1916935"/>
            <a:ext cx="16299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3200" dirty="0"/>
              <a:t>int a = 1;</a:t>
            </a:r>
          </a:p>
          <a:p>
            <a:r>
              <a:rPr lang="pt-BR" altLang="zh-CN" sz="3200" dirty="0"/>
              <a:t>a = ++a;</a:t>
            </a:r>
            <a:endParaRPr lang="zh-CN" altLang="en-US" sz="32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5792870-1EB4-65F2-0410-652E3C3BB853}"/>
              </a:ext>
            </a:extLst>
          </p:cNvPr>
          <p:cNvGrpSpPr/>
          <p:nvPr/>
        </p:nvGrpSpPr>
        <p:grpSpPr>
          <a:xfrm>
            <a:off x="5453349" y="2822388"/>
            <a:ext cx="4197427" cy="1694528"/>
            <a:chOff x="5453349" y="2822388"/>
            <a:chExt cx="4197427" cy="169452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AB053D3-BE3B-6E88-1F4D-1AC9FEA67183}"/>
                </a:ext>
              </a:extLst>
            </p:cNvPr>
            <p:cNvSpPr/>
            <p:nvPr/>
          </p:nvSpPr>
          <p:spPr>
            <a:xfrm>
              <a:off x="5453349" y="2822388"/>
              <a:ext cx="4197427" cy="1694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8425C4A-B356-40D5-621D-53827B3BE48F}"/>
                </a:ext>
              </a:extLst>
            </p:cNvPr>
            <p:cNvSpPr txBox="1"/>
            <p:nvPr/>
          </p:nvSpPr>
          <p:spPr>
            <a:xfrm>
              <a:off x="5501089" y="2822388"/>
              <a:ext cx="11090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main</a:t>
              </a:r>
              <a:r>
                <a:rPr lang="zh-CN" altLang="en-US" dirty="0"/>
                <a:t>方法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4BC7ACB3-38FC-3C70-9B41-CF6E2F49B259}"/>
              </a:ext>
            </a:extLst>
          </p:cNvPr>
          <p:cNvSpPr/>
          <p:nvPr/>
        </p:nvSpPr>
        <p:spPr>
          <a:xfrm>
            <a:off x="6367749" y="3734718"/>
            <a:ext cx="969485" cy="6830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3830EC-A531-61A0-61FC-11355AFDD468}"/>
              </a:ext>
            </a:extLst>
          </p:cNvPr>
          <p:cNvSpPr txBox="1"/>
          <p:nvPr/>
        </p:nvSpPr>
        <p:spPr>
          <a:xfrm>
            <a:off x="5772838" y="3916763"/>
            <a:ext cx="594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 a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F0B61F-23AC-BB1E-D27F-23F2F234D518}"/>
              </a:ext>
            </a:extLst>
          </p:cNvPr>
          <p:cNvSpPr/>
          <p:nvPr/>
        </p:nvSpPr>
        <p:spPr>
          <a:xfrm>
            <a:off x="8282608" y="2994152"/>
            <a:ext cx="1368167" cy="1522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操作数栈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57EE35D-E02D-CDC9-EFB3-CC0887A504B0}"/>
              </a:ext>
            </a:extLst>
          </p:cNvPr>
          <p:cNvSpPr/>
          <p:nvPr/>
        </p:nvSpPr>
        <p:spPr>
          <a:xfrm>
            <a:off x="8653670" y="3916763"/>
            <a:ext cx="612013" cy="50100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68F9BF-5BBE-C3E6-90A3-F456ABF6AF93}"/>
              </a:ext>
            </a:extLst>
          </p:cNvPr>
          <p:cNvSpPr/>
          <p:nvPr/>
        </p:nvSpPr>
        <p:spPr>
          <a:xfrm>
            <a:off x="925417" y="1916935"/>
            <a:ext cx="1791279" cy="57520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2" grpId="0" animBg="1"/>
      <p:bldP spid="13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D8A93-22A3-75B6-13D6-62F76D926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4C83A709-DC4E-2370-B657-D701F1234CD4}"/>
              </a:ext>
            </a:extLst>
          </p:cNvPr>
          <p:cNvGrpSpPr/>
          <p:nvPr/>
        </p:nvGrpSpPr>
        <p:grpSpPr>
          <a:xfrm>
            <a:off x="5453349" y="1476260"/>
            <a:ext cx="4197427" cy="3498123"/>
            <a:chOff x="5453349" y="1476260"/>
            <a:chExt cx="4197427" cy="349812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94B0BBC-5F9A-F34A-F3C9-A4B02696669B}"/>
                </a:ext>
              </a:extLst>
            </p:cNvPr>
            <p:cNvSpPr/>
            <p:nvPr/>
          </p:nvSpPr>
          <p:spPr>
            <a:xfrm>
              <a:off x="5453349" y="1476260"/>
              <a:ext cx="4197427" cy="304065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1DFA2B6-337A-AD8B-2F01-7515CC78FCEA}"/>
                </a:ext>
              </a:extLst>
            </p:cNvPr>
            <p:cNvSpPr txBox="1"/>
            <p:nvPr/>
          </p:nvSpPr>
          <p:spPr>
            <a:xfrm>
              <a:off x="6610119" y="4605051"/>
              <a:ext cx="2137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Java</a:t>
              </a:r>
              <a:r>
                <a:rPr lang="zh-CN" altLang="en-US" dirty="0"/>
                <a:t>虚拟机栈内存</a:t>
              </a:r>
            </a:p>
          </p:txBody>
        </p:sp>
      </p:grpSp>
      <p:sp>
        <p:nvSpPr>
          <p:cNvPr id="6" name="标题 3">
            <a:extLst>
              <a:ext uri="{FF2B5EF4-FFF2-40B4-BE49-F238E27FC236}">
                <a16:creationId xmlns:a16="http://schemas.microsoft.com/office/drawing/2014/main" id="{8154F313-84E6-3AB2-E03F-E452FE916023}"/>
              </a:ext>
            </a:extLst>
          </p:cNvPr>
          <p:cNvSpPr txBox="1"/>
          <p:nvPr/>
        </p:nvSpPr>
        <p:spPr>
          <a:xfrm>
            <a:off x="687916" y="559331"/>
            <a:ext cx="4188883" cy="5752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spc="300" dirty="0">
                <a:solidFill>
                  <a:srgbClr val="008080"/>
                </a:solidFill>
              </a:rPr>
              <a:t>案例</a:t>
            </a:r>
            <a:r>
              <a:rPr lang="en-US" altLang="zh-CN" sz="3200" b="1" spc="300" dirty="0">
                <a:solidFill>
                  <a:srgbClr val="008080"/>
                </a:solidFill>
              </a:rPr>
              <a:t>(1)</a:t>
            </a:r>
            <a:endParaRPr lang="zh-CN" altLang="en-US" sz="3200" b="1" spc="300" dirty="0">
              <a:solidFill>
                <a:srgbClr val="008080"/>
              </a:solidFill>
            </a:endParaRPr>
          </a:p>
          <a:p>
            <a:endParaRPr lang="zh-CN" altLang="en-US" sz="3200" b="1" spc="300" dirty="0">
              <a:solidFill>
                <a:srgbClr val="00808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C89E74-6E3E-69C9-3073-6EC99BD0E6C2}"/>
              </a:ext>
            </a:extLst>
          </p:cNvPr>
          <p:cNvSpPr txBox="1"/>
          <p:nvPr/>
        </p:nvSpPr>
        <p:spPr>
          <a:xfrm>
            <a:off x="925417" y="1916935"/>
            <a:ext cx="16299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3200" dirty="0"/>
              <a:t>int a = 1;</a:t>
            </a:r>
          </a:p>
          <a:p>
            <a:r>
              <a:rPr lang="pt-BR" altLang="zh-CN" sz="3200" dirty="0"/>
              <a:t>a = ++a;</a:t>
            </a:r>
            <a:endParaRPr lang="zh-CN" altLang="en-US" sz="32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F13A2F4-A134-3FC6-9459-B65991F07559}"/>
              </a:ext>
            </a:extLst>
          </p:cNvPr>
          <p:cNvGrpSpPr/>
          <p:nvPr/>
        </p:nvGrpSpPr>
        <p:grpSpPr>
          <a:xfrm>
            <a:off x="5453349" y="2822388"/>
            <a:ext cx="4197427" cy="1694528"/>
            <a:chOff x="5453349" y="2822388"/>
            <a:chExt cx="4197427" cy="169452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F7D5F1B-E663-B92A-1B3D-979272556E2C}"/>
                </a:ext>
              </a:extLst>
            </p:cNvPr>
            <p:cNvSpPr/>
            <p:nvPr/>
          </p:nvSpPr>
          <p:spPr>
            <a:xfrm>
              <a:off x="5453349" y="2822388"/>
              <a:ext cx="4197427" cy="1694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FA460AA-03CD-9445-7808-FC6DE5359E22}"/>
                </a:ext>
              </a:extLst>
            </p:cNvPr>
            <p:cNvSpPr txBox="1"/>
            <p:nvPr/>
          </p:nvSpPr>
          <p:spPr>
            <a:xfrm>
              <a:off x="5501089" y="2822388"/>
              <a:ext cx="11090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main</a:t>
              </a:r>
              <a:r>
                <a:rPr lang="zh-CN" altLang="en-US" dirty="0"/>
                <a:t>方法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17328A02-5C1B-8F6B-92D3-934BBCF481D3}"/>
              </a:ext>
            </a:extLst>
          </p:cNvPr>
          <p:cNvSpPr/>
          <p:nvPr/>
        </p:nvSpPr>
        <p:spPr>
          <a:xfrm>
            <a:off x="6367749" y="3734718"/>
            <a:ext cx="969485" cy="6830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17196D-D48E-732E-AFE9-3A3F81286731}"/>
              </a:ext>
            </a:extLst>
          </p:cNvPr>
          <p:cNvSpPr txBox="1"/>
          <p:nvPr/>
        </p:nvSpPr>
        <p:spPr>
          <a:xfrm>
            <a:off x="5772838" y="3916763"/>
            <a:ext cx="594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 a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EA4E80-8570-FB3E-9000-5E82FEC79A65}"/>
              </a:ext>
            </a:extLst>
          </p:cNvPr>
          <p:cNvSpPr/>
          <p:nvPr/>
        </p:nvSpPr>
        <p:spPr>
          <a:xfrm>
            <a:off x="8282608" y="2994152"/>
            <a:ext cx="1368167" cy="1522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操作数栈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BA9DC92-5C91-4323-7CC2-3A2F3A67A771}"/>
              </a:ext>
            </a:extLst>
          </p:cNvPr>
          <p:cNvSpPr/>
          <p:nvPr/>
        </p:nvSpPr>
        <p:spPr>
          <a:xfrm>
            <a:off x="8653670" y="3916763"/>
            <a:ext cx="612013" cy="50100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3957D70-789B-4141-3D49-9D146D928743}"/>
              </a:ext>
            </a:extLst>
          </p:cNvPr>
          <p:cNvSpPr/>
          <p:nvPr/>
        </p:nvSpPr>
        <p:spPr>
          <a:xfrm>
            <a:off x="925417" y="1916935"/>
            <a:ext cx="1791279" cy="57520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4F70C11-9A0B-0AD1-13F6-FA70CE3E9106}"/>
              </a:ext>
            </a:extLst>
          </p:cNvPr>
          <p:cNvSpPr/>
          <p:nvPr/>
        </p:nvSpPr>
        <p:spPr>
          <a:xfrm>
            <a:off x="6367749" y="3734718"/>
            <a:ext cx="969485" cy="6830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1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D57DB-7E18-C6E9-68E8-85323B918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2FF5852F-95DD-3016-E7FF-0A787ABEBBF5}"/>
              </a:ext>
            </a:extLst>
          </p:cNvPr>
          <p:cNvGrpSpPr/>
          <p:nvPr/>
        </p:nvGrpSpPr>
        <p:grpSpPr>
          <a:xfrm>
            <a:off x="5453349" y="1476260"/>
            <a:ext cx="4197427" cy="3498123"/>
            <a:chOff x="5453349" y="1476260"/>
            <a:chExt cx="4197427" cy="349812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EEED7C2-E8A0-33D3-DEC0-82C47D879543}"/>
                </a:ext>
              </a:extLst>
            </p:cNvPr>
            <p:cNvSpPr/>
            <p:nvPr/>
          </p:nvSpPr>
          <p:spPr>
            <a:xfrm>
              <a:off x="5453349" y="1476260"/>
              <a:ext cx="4197427" cy="304065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38BC14F-6C18-C8E8-D8B4-925243A96BF0}"/>
                </a:ext>
              </a:extLst>
            </p:cNvPr>
            <p:cNvSpPr txBox="1"/>
            <p:nvPr/>
          </p:nvSpPr>
          <p:spPr>
            <a:xfrm>
              <a:off x="6610119" y="4605051"/>
              <a:ext cx="2137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Java</a:t>
              </a:r>
              <a:r>
                <a:rPr lang="zh-CN" altLang="en-US" dirty="0"/>
                <a:t>虚拟机栈内存</a:t>
              </a:r>
            </a:p>
          </p:txBody>
        </p:sp>
      </p:grpSp>
      <p:sp>
        <p:nvSpPr>
          <p:cNvPr id="6" name="标题 3">
            <a:extLst>
              <a:ext uri="{FF2B5EF4-FFF2-40B4-BE49-F238E27FC236}">
                <a16:creationId xmlns:a16="http://schemas.microsoft.com/office/drawing/2014/main" id="{54870D15-1AF8-A3A8-9F9C-931533B740F7}"/>
              </a:ext>
            </a:extLst>
          </p:cNvPr>
          <p:cNvSpPr txBox="1"/>
          <p:nvPr/>
        </p:nvSpPr>
        <p:spPr>
          <a:xfrm>
            <a:off x="687916" y="559331"/>
            <a:ext cx="4188883" cy="5752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spc="300" dirty="0">
                <a:solidFill>
                  <a:srgbClr val="008080"/>
                </a:solidFill>
              </a:rPr>
              <a:t>案例</a:t>
            </a:r>
            <a:r>
              <a:rPr lang="en-US" altLang="zh-CN" sz="3200" b="1" spc="300" dirty="0">
                <a:solidFill>
                  <a:srgbClr val="008080"/>
                </a:solidFill>
              </a:rPr>
              <a:t>(1)</a:t>
            </a:r>
            <a:endParaRPr lang="zh-CN" altLang="en-US" sz="3200" b="1" spc="300" dirty="0">
              <a:solidFill>
                <a:srgbClr val="008080"/>
              </a:solidFill>
            </a:endParaRPr>
          </a:p>
          <a:p>
            <a:endParaRPr lang="zh-CN" altLang="en-US" sz="3200" b="1" spc="300" dirty="0">
              <a:solidFill>
                <a:srgbClr val="00808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DD5190C-EC46-F56D-BEF2-581045EF9B02}"/>
              </a:ext>
            </a:extLst>
          </p:cNvPr>
          <p:cNvSpPr txBox="1"/>
          <p:nvPr/>
        </p:nvSpPr>
        <p:spPr>
          <a:xfrm>
            <a:off x="925417" y="1916935"/>
            <a:ext cx="16299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3200" dirty="0"/>
              <a:t>int a = 1;</a:t>
            </a:r>
          </a:p>
          <a:p>
            <a:r>
              <a:rPr lang="pt-BR" altLang="zh-CN" sz="3200" dirty="0"/>
              <a:t>a = ++a;</a:t>
            </a:r>
            <a:endParaRPr lang="zh-CN" altLang="en-US" sz="32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A1C19CA-FDF4-5D0C-6027-ED0DFB06A09B}"/>
              </a:ext>
            </a:extLst>
          </p:cNvPr>
          <p:cNvGrpSpPr/>
          <p:nvPr/>
        </p:nvGrpSpPr>
        <p:grpSpPr>
          <a:xfrm>
            <a:off x="5453349" y="2822388"/>
            <a:ext cx="4197427" cy="1694528"/>
            <a:chOff x="5453349" y="2822388"/>
            <a:chExt cx="4197427" cy="169452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D422884-FB54-BED1-86DE-1890956AFEB5}"/>
                </a:ext>
              </a:extLst>
            </p:cNvPr>
            <p:cNvSpPr/>
            <p:nvPr/>
          </p:nvSpPr>
          <p:spPr>
            <a:xfrm>
              <a:off x="5453349" y="2822388"/>
              <a:ext cx="4197427" cy="1694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A433D59-0951-9046-85B9-4FAA7CD67497}"/>
                </a:ext>
              </a:extLst>
            </p:cNvPr>
            <p:cNvSpPr txBox="1"/>
            <p:nvPr/>
          </p:nvSpPr>
          <p:spPr>
            <a:xfrm>
              <a:off x="5501089" y="2822388"/>
              <a:ext cx="11090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main</a:t>
              </a:r>
              <a:r>
                <a:rPr lang="zh-CN" altLang="en-US" dirty="0"/>
                <a:t>方法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47522493-FE3D-BDAC-6470-D6719DAE262A}"/>
              </a:ext>
            </a:extLst>
          </p:cNvPr>
          <p:cNvSpPr/>
          <p:nvPr/>
        </p:nvSpPr>
        <p:spPr>
          <a:xfrm>
            <a:off x="6367749" y="3734718"/>
            <a:ext cx="969485" cy="6830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56B434-C986-836B-415B-D0B29E75DB7A}"/>
              </a:ext>
            </a:extLst>
          </p:cNvPr>
          <p:cNvSpPr txBox="1"/>
          <p:nvPr/>
        </p:nvSpPr>
        <p:spPr>
          <a:xfrm>
            <a:off x="5772838" y="3916763"/>
            <a:ext cx="594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 a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17A342-FB2D-0769-39D7-E327FC51668A}"/>
              </a:ext>
            </a:extLst>
          </p:cNvPr>
          <p:cNvSpPr/>
          <p:nvPr/>
        </p:nvSpPr>
        <p:spPr>
          <a:xfrm>
            <a:off x="8282608" y="2994152"/>
            <a:ext cx="1368167" cy="1522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操作数栈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600908C-FF77-1718-390F-86069D4E9B37}"/>
              </a:ext>
            </a:extLst>
          </p:cNvPr>
          <p:cNvSpPr/>
          <p:nvPr/>
        </p:nvSpPr>
        <p:spPr>
          <a:xfrm>
            <a:off x="8653670" y="3916763"/>
            <a:ext cx="612013" cy="50100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C307FB-15FA-4AE6-AB4A-3BB80E92E992}"/>
              </a:ext>
            </a:extLst>
          </p:cNvPr>
          <p:cNvSpPr/>
          <p:nvPr/>
        </p:nvSpPr>
        <p:spPr>
          <a:xfrm>
            <a:off x="6367749" y="3743607"/>
            <a:ext cx="969485" cy="6830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C9F758-89C5-F0C0-1FB1-ED5457236AB5}"/>
              </a:ext>
            </a:extLst>
          </p:cNvPr>
          <p:cNvSpPr/>
          <p:nvPr/>
        </p:nvSpPr>
        <p:spPr>
          <a:xfrm>
            <a:off x="832652" y="2442023"/>
            <a:ext cx="1791279" cy="57520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808CE1-316C-7F57-D492-BE8F94DE3333}"/>
              </a:ext>
            </a:extLst>
          </p:cNvPr>
          <p:cNvSpPr txBox="1"/>
          <p:nvPr/>
        </p:nvSpPr>
        <p:spPr>
          <a:xfrm>
            <a:off x="583095" y="4167263"/>
            <a:ext cx="795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++a</a:t>
            </a:r>
            <a:endParaRPr lang="zh-CN" altLang="en-US" sz="3200" dirty="0"/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D8A754BA-AD0B-4F3E-343C-3E8D147F9666}"/>
              </a:ext>
            </a:extLst>
          </p:cNvPr>
          <p:cNvSpPr/>
          <p:nvPr/>
        </p:nvSpPr>
        <p:spPr>
          <a:xfrm>
            <a:off x="1486685" y="4069778"/>
            <a:ext cx="373297" cy="974580"/>
          </a:xfrm>
          <a:prstGeom prst="leftBrace">
            <a:avLst/>
          </a:prstGeom>
          <a:noFill/>
          <a:ln w="19050" cap="rnd" cmpd="dbl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BAA43A-A1AE-0D4B-6316-14CA819776EB}"/>
              </a:ext>
            </a:extLst>
          </p:cNvPr>
          <p:cNvSpPr txBox="1"/>
          <p:nvPr/>
        </p:nvSpPr>
        <p:spPr>
          <a:xfrm>
            <a:off x="1879133" y="3869723"/>
            <a:ext cx="950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a</a:t>
            </a:r>
            <a:r>
              <a:rPr lang="zh-CN" altLang="en-US" sz="2000" dirty="0"/>
              <a:t>自增</a:t>
            </a:r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16F5C1F-9E41-353B-CC16-A88B49160BAA}"/>
              </a:ext>
            </a:extLst>
          </p:cNvPr>
          <p:cNvSpPr txBox="1"/>
          <p:nvPr/>
        </p:nvSpPr>
        <p:spPr>
          <a:xfrm>
            <a:off x="1879133" y="4844303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取</a:t>
            </a:r>
            <a:r>
              <a:rPr lang="en-US" altLang="zh-CN" sz="2000" dirty="0"/>
              <a:t>a</a:t>
            </a:r>
            <a:r>
              <a:rPr lang="zh-CN" altLang="en-US" sz="2000" dirty="0"/>
              <a:t>的值</a:t>
            </a:r>
          </a:p>
        </p:txBody>
      </p:sp>
    </p:spTree>
    <p:extLst>
      <p:ext uri="{BB962C8B-B14F-4D97-AF65-F5344CB8AC3E}">
        <p14:creationId xmlns:p14="http://schemas.microsoft.com/office/powerpoint/2010/main" val="98122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7BA1-6C28-73C5-F52B-84B2E3F9F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382DD4C3-058A-C4FC-2C54-B9B54C783DEB}"/>
              </a:ext>
            </a:extLst>
          </p:cNvPr>
          <p:cNvGrpSpPr/>
          <p:nvPr/>
        </p:nvGrpSpPr>
        <p:grpSpPr>
          <a:xfrm>
            <a:off x="5453349" y="1476260"/>
            <a:ext cx="4197427" cy="3498123"/>
            <a:chOff x="5453349" y="1476260"/>
            <a:chExt cx="4197427" cy="349812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A1A8705-2D3D-4418-6D6A-B5A9E3C93B34}"/>
                </a:ext>
              </a:extLst>
            </p:cNvPr>
            <p:cNvSpPr/>
            <p:nvPr/>
          </p:nvSpPr>
          <p:spPr>
            <a:xfrm>
              <a:off x="5453349" y="1476260"/>
              <a:ext cx="4197427" cy="304065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75EA144-47FD-9140-85DA-08B5D7053FB5}"/>
                </a:ext>
              </a:extLst>
            </p:cNvPr>
            <p:cNvSpPr txBox="1"/>
            <p:nvPr/>
          </p:nvSpPr>
          <p:spPr>
            <a:xfrm>
              <a:off x="6610119" y="4605051"/>
              <a:ext cx="2137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Java</a:t>
              </a:r>
              <a:r>
                <a:rPr lang="zh-CN" altLang="en-US" dirty="0"/>
                <a:t>虚拟机栈内存</a:t>
              </a:r>
            </a:p>
          </p:txBody>
        </p:sp>
      </p:grpSp>
      <p:sp>
        <p:nvSpPr>
          <p:cNvPr id="6" name="标题 3">
            <a:extLst>
              <a:ext uri="{FF2B5EF4-FFF2-40B4-BE49-F238E27FC236}">
                <a16:creationId xmlns:a16="http://schemas.microsoft.com/office/drawing/2014/main" id="{5066A0C5-49F8-14F7-AD4E-D97AB53450F5}"/>
              </a:ext>
            </a:extLst>
          </p:cNvPr>
          <p:cNvSpPr txBox="1"/>
          <p:nvPr/>
        </p:nvSpPr>
        <p:spPr>
          <a:xfrm>
            <a:off x="687916" y="559331"/>
            <a:ext cx="4188883" cy="5752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spc="300" dirty="0">
                <a:solidFill>
                  <a:srgbClr val="008080"/>
                </a:solidFill>
              </a:rPr>
              <a:t>案例</a:t>
            </a:r>
            <a:r>
              <a:rPr lang="en-US" altLang="zh-CN" sz="3200" b="1" spc="300" dirty="0">
                <a:solidFill>
                  <a:srgbClr val="008080"/>
                </a:solidFill>
              </a:rPr>
              <a:t>(1)</a:t>
            </a:r>
            <a:endParaRPr lang="zh-CN" altLang="en-US" sz="3200" b="1" spc="300" dirty="0">
              <a:solidFill>
                <a:srgbClr val="008080"/>
              </a:solidFill>
            </a:endParaRPr>
          </a:p>
          <a:p>
            <a:endParaRPr lang="zh-CN" altLang="en-US" sz="3200" b="1" spc="300" dirty="0">
              <a:solidFill>
                <a:srgbClr val="00808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F9E182-5584-2105-A8C1-AEE7C079C353}"/>
              </a:ext>
            </a:extLst>
          </p:cNvPr>
          <p:cNvSpPr txBox="1"/>
          <p:nvPr/>
        </p:nvSpPr>
        <p:spPr>
          <a:xfrm>
            <a:off x="925417" y="1916935"/>
            <a:ext cx="16299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3200" dirty="0"/>
              <a:t>int a = 1;</a:t>
            </a:r>
          </a:p>
          <a:p>
            <a:r>
              <a:rPr lang="pt-BR" altLang="zh-CN" sz="3200" dirty="0"/>
              <a:t>a = ++a;</a:t>
            </a:r>
            <a:endParaRPr lang="zh-CN" altLang="en-US" sz="32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3BF763D-B877-6877-7875-FC32B3130743}"/>
              </a:ext>
            </a:extLst>
          </p:cNvPr>
          <p:cNvGrpSpPr/>
          <p:nvPr/>
        </p:nvGrpSpPr>
        <p:grpSpPr>
          <a:xfrm>
            <a:off x="5453349" y="2822388"/>
            <a:ext cx="4197427" cy="1694528"/>
            <a:chOff x="5453349" y="2822388"/>
            <a:chExt cx="4197427" cy="169452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5CBBC4B-5B01-B6C5-7AE0-0BABB6E134BE}"/>
                </a:ext>
              </a:extLst>
            </p:cNvPr>
            <p:cNvSpPr/>
            <p:nvPr/>
          </p:nvSpPr>
          <p:spPr>
            <a:xfrm>
              <a:off x="5453349" y="2822388"/>
              <a:ext cx="4197427" cy="1694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38B5191-169F-6DEC-B7C5-58BEE1BD24D2}"/>
                </a:ext>
              </a:extLst>
            </p:cNvPr>
            <p:cNvSpPr txBox="1"/>
            <p:nvPr/>
          </p:nvSpPr>
          <p:spPr>
            <a:xfrm>
              <a:off x="5501089" y="2822388"/>
              <a:ext cx="11090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main</a:t>
              </a:r>
              <a:r>
                <a:rPr lang="zh-CN" altLang="en-US" dirty="0"/>
                <a:t>方法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CB42DA6B-1E9F-715A-AEE4-9656DFBEFA25}"/>
              </a:ext>
            </a:extLst>
          </p:cNvPr>
          <p:cNvSpPr txBox="1"/>
          <p:nvPr/>
        </p:nvSpPr>
        <p:spPr>
          <a:xfrm>
            <a:off x="5772838" y="3916763"/>
            <a:ext cx="594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 a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E5C22F-031A-782C-524C-581C79D90112}"/>
              </a:ext>
            </a:extLst>
          </p:cNvPr>
          <p:cNvSpPr/>
          <p:nvPr/>
        </p:nvSpPr>
        <p:spPr>
          <a:xfrm>
            <a:off x="8282608" y="2994152"/>
            <a:ext cx="1368167" cy="1522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D4DBA0C-99B4-8309-07B8-3D7A0008D8BB}"/>
              </a:ext>
            </a:extLst>
          </p:cNvPr>
          <p:cNvSpPr/>
          <p:nvPr/>
        </p:nvSpPr>
        <p:spPr>
          <a:xfrm>
            <a:off x="8653670" y="3916763"/>
            <a:ext cx="612013" cy="50100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FC4670-25D6-2BC6-AE7A-C3719DCC745E}"/>
              </a:ext>
            </a:extLst>
          </p:cNvPr>
          <p:cNvSpPr/>
          <p:nvPr/>
        </p:nvSpPr>
        <p:spPr>
          <a:xfrm>
            <a:off x="6367749" y="3743607"/>
            <a:ext cx="969485" cy="6830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40AA23-035E-0039-DD6B-EFA828FC856F}"/>
              </a:ext>
            </a:extLst>
          </p:cNvPr>
          <p:cNvSpPr/>
          <p:nvPr/>
        </p:nvSpPr>
        <p:spPr>
          <a:xfrm>
            <a:off x="6369984" y="3742281"/>
            <a:ext cx="969485" cy="6830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rgbClr val="7030A0"/>
                </a:solidFill>
              </a:rPr>
              <a:t>2</a:t>
            </a:r>
            <a:endParaRPr lang="zh-CN" altLang="en-US" sz="2800" b="1" dirty="0">
              <a:solidFill>
                <a:srgbClr val="7030A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16F0F0-9F45-9F26-AFA2-A081FB540EAC}"/>
              </a:ext>
            </a:extLst>
          </p:cNvPr>
          <p:cNvSpPr/>
          <p:nvPr/>
        </p:nvSpPr>
        <p:spPr>
          <a:xfrm>
            <a:off x="832652" y="2442023"/>
            <a:ext cx="1791279" cy="57520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14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663D6-41F8-838E-10C6-A6A7670A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FF81A0F8-490C-6F5C-48F8-B1EB2EF06E63}"/>
              </a:ext>
            </a:extLst>
          </p:cNvPr>
          <p:cNvSpPr txBox="1"/>
          <p:nvPr/>
        </p:nvSpPr>
        <p:spPr>
          <a:xfrm>
            <a:off x="5424386" y="1053574"/>
            <a:ext cx="3779430" cy="82413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spc="300" dirty="0">
                <a:solidFill>
                  <a:srgbClr val="008080"/>
                </a:solidFill>
                <a:latin typeface="+mj-ea"/>
                <a:ea typeface="+mj-ea"/>
                <a:cs typeface="+mn-ea"/>
                <a:sym typeface="+mn-lt"/>
              </a:rPr>
              <a:t>案例</a:t>
            </a:r>
            <a:r>
              <a:rPr lang="en-US" altLang="zh-CN" sz="2800" b="1" spc="300" dirty="0">
                <a:solidFill>
                  <a:srgbClr val="008080"/>
                </a:solidFill>
                <a:latin typeface="+mj-ea"/>
                <a:ea typeface="+mj-ea"/>
                <a:cs typeface="+mn-ea"/>
                <a:sym typeface="+mn-lt"/>
              </a:rPr>
              <a:t>(1)</a:t>
            </a:r>
            <a:endParaRPr lang="zh-CN" altLang="en-US" sz="2800" b="1" spc="300" dirty="0">
              <a:solidFill>
                <a:srgbClr val="008080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D2172D8-956D-DF83-973F-E03AA29B00BD}"/>
              </a:ext>
            </a:extLst>
          </p:cNvPr>
          <p:cNvGrpSpPr/>
          <p:nvPr/>
        </p:nvGrpSpPr>
        <p:grpSpPr>
          <a:xfrm>
            <a:off x="2916142" y="1414541"/>
            <a:ext cx="2043123" cy="4083802"/>
            <a:chOff x="2357876" y="1270162"/>
            <a:chExt cx="2043123" cy="4083802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A2D852F0-DBAF-6923-9F1B-6FEB6EB9AF2C}"/>
                </a:ext>
              </a:extLst>
            </p:cNvPr>
            <p:cNvSpPr txBox="1"/>
            <p:nvPr/>
          </p:nvSpPr>
          <p:spPr>
            <a:xfrm>
              <a:off x="2357876" y="2948495"/>
              <a:ext cx="16123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spc="300">
                  <a:solidFill>
                    <a:srgbClr val="008080"/>
                  </a:solidFill>
                  <a:effectLst>
                    <a:outerShdw blurRad="330200" algn="ctr" rotWithShape="0">
                      <a:prstClr val="black">
                        <a:alpha val="16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目录</a:t>
              </a:r>
            </a:p>
          </p:txBody>
        </p:sp>
        <p:sp>
          <p:nvSpPr>
            <p:cNvPr id="64" name="左大括号 63">
              <a:extLst>
                <a:ext uri="{FF2B5EF4-FFF2-40B4-BE49-F238E27FC236}">
                  <a16:creationId xmlns:a16="http://schemas.microsoft.com/office/drawing/2014/main" id="{2AAC1AF8-1A76-2AEC-7228-01385C6B4687}"/>
                </a:ext>
              </a:extLst>
            </p:cNvPr>
            <p:cNvSpPr/>
            <p:nvPr/>
          </p:nvSpPr>
          <p:spPr>
            <a:xfrm>
              <a:off x="3693515" y="1270162"/>
              <a:ext cx="707484" cy="4083802"/>
            </a:xfrm>
            <a:prstGeom prst="leftBrace">
              <a:avLst>
                <a:gd name="adj1" fmla="val 52592"/>
                <a:gd name="adj2" fmla="val 50000"/>
              </a:avLst>
            </a:prstGeom>
            <a:ln w="38100">
              <a:solidFill>
                <a:srgbClr val="0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1311E2A9-2145-55FB-FA55-E9CED52D1548}"/>
              </a:ext>
            </a:extLst>
          </p:cNvPr>
          <p:cNvSpPr txBox="1"/>
          <p:nvPr/>
        </p:nvSpPr>
        <p:spPr>
          <a:xfrm>
            <a:off x="5424386" y="4544488"/>
            <a:ext cx="3927671" cy="82413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spc="300" dirty="0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案例</a:t>
            </a:r>
            <a:r>
              <a:rPr lang="en-US" altLang="zh-CN" sz="2800" b="1" spc="300" dirty="0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(2)</a:t>
            </a:r>
            <a:endParaRPr lang="zh-CN" altLang="en-US" sz="2800" b="1" spc="300" dirty="0">
              <a:solidFill>
                <a:srgbClr val="FF0000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54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85335-88D9-ABF4-68B7-B0D64F2FF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B3C42F82-0200-97A9-AFA6-40F27A3B356B}"/>
              </a:ext>
            </a:extLst>
          </p:cNvPr>
          <p:cNvGrpSpPr/>
          <p:nvPr/>
        </p:nvGrpSpPr>
        <p:grpSpPr>
          <a:xfrm>
            <a:off x="5453349" y="1476260"/>
            <a:ext cx="4197427" cy="3498123"/>
            <a:chOff x="5453349" y="1476260"/>
            <a:chExt cx="4197427" cy="349812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DD60867-A96A-80F4-EC8C-29B8EBF6D83D}"/>
                </a:ext>
              </a:extLst>
            </p:cNvPr>
            <p:cNvSpPr/>
            <p:nvPr/>
          </p:nvSpPr>
          <p:spPr>
            <a:xfrm>
              <a:off x="5453349" y="1476260"/>
              <a:ext cx="4197427" cy="304065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D93AABF-72CB-5883-669C-70021D125CA3}"/>
                </a:ext>
              </a:extLst>
            </p:cNvPr>
            <p:cNvSpPr txBox="1"/>
            <p:nvPr/>
          </p:nvSpPr>
          <p:spPr>
            <a:xfrm>
              <a:off x="6610119" y="4605051"/>
              <a:ext cx="2137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Java</a:t>
              </a:r>
              <a:r>
                <a:rPr lang="zh-CN" altLang="en-US" dirty="0"/>
                <a:t>虚拟机栈内存</a:t>
              </a:r>
            </a:p>
          </p:txBody>
        </p:sp>
      </p:grpSp>
      <p:sp>
        <p:nvSpPr>
          <p:cNvPr id="6" name="标题 3">
            <a:extLst>
              <a:ext uri="{FF2B5EF4-FFF2-40B4-BE49-F238E27FC236}">
                <a16:creationId xmlns:a16="http://schemas.microsoft.com/office/drawing/2014/main" id="{50006B88-157B-A487-3C6D-FB1A2A3FC26E}"/>
              </a:ext>
            </a:extLst>
          </p:cNvPr>
          <p:cNvSpPr txBox="1"/>
          <p:nvPr/>
        </p:nvSpPr>
        <p:spPr>
          <a:xfrm>
            <a:off x="687916" y="559331"/>
            <a:ext cx="4188883" cy="5752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spc="300" dirty="0">
                <a:solidFill>
                  <a:srgbClr val="008080"/>
                </a:solidFill>
              </a:rPr>
              <a:t>案例</a:t>
            </a:r>
            <a:r>
              <a:rPr lang="en-US" altLang="zh-CN" sz="3200" b="1" spc="300" dirty="0">
                <a:solidFill>
                  <a:srgbClr val="008080"/>
                </a:solidFill>
              </a:rPr>
              <a:t>(2)</a:t>
            </a:r>
            <a:endParaRPr lang="zh-CN" altLang="en-US" sz="3200" b="1" spc="300" dirty="0">
              <a:solidFill>
                <a:srgbClr val="008080"/>
              </a:solidFill>
            </a:endParaRPr>
          </a:p>
          <a:p>
            <a:endParaRPr lang="zh-CN" altLang="en-US" sz="3200" b="1" spc="300" dirty="0">
              <a:solidFill>
                <a:srgbClr val="00808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B6F8E7-5729-29CF-48B5-8B892C299BC5}"/>
              </a:ext>
            </a:extLst>
          </p:cNvPr>
          <p:cNvSpPr txBox="1"/>
          <p:nvPr/>
        </p:nvSpPr>
        <p:spPr>
          <a:xfrm>
            <a:off x="925417" y="1916935"/>
            <a:ext cx="16299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3200" dirty="0"/>
              <a:t>int a = 1;</a:t>
            </a:r>
          </a:p>
          <a:p>
            <a:r>
              <a:rPr lang="pt-BR" altLang="zh-CN" sz="3200" dirty="0"/>
              <a:t>a = a++;</a:t>
            </a:r>
            <a:endParaRPr lang="zh-CN" altLang="en-US" sz="32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BABC30B-8D16-3DD0-613F-863CBB43B5A2}"/>
              </a:ext>
            </a:extLst>
          </p:cNvPr>
          <p:cNvGrpSpPr/>
          <p:nvPr/>
        </p:nvGrpSpPr>
        <p:grpSpPr>
          <a:xfrm>
            <a:off x="5453349" y="2822388"/>
            <a:ext cx="4197427" cy="1694528"/>
            <a:chOff x="5453349" y="2822388"/>
            <a:chExt cx="4197427" cy="169452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53BAAA5-6A4F-F2B5-C54F-DD1B5BB94BFB}"/>
                </a:ext>
              </a:extLst>
            </p:cNvPr>
            <p:cNvSpPr/>
            <p:nvPr/>
          </p:nvSpPr>
          <p:spPr>
            <a:xfrm>
              <a:off x="5453349" y="2822388"/>
              <a:ext cx="4197427" cy="1694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558702C-76DD-877A-5D84-DCA50781679F}"/>
                </a:ext>
              </a:extLst>
            </p:cNvPr>
            <p:cNvSpPr txBox="1"/>
            <p:nvPr/>
          </p:nvSpPr>
          <p:spPr>
            <a:xfrm>
              <a:off x="5501089" y="2822388"/>
              <a:ext cx="11090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main</a:t>
              </a:r>
              <a:r>
                <a:rPr lang="zh-CN" altLang="en-US" dirty="0"/>
                <a:t>方法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C95AACF3-1677-F361-9BD3-DACFE03B68F3}"/>
              </a:ext>
            </a:extLst>
          </p:cNvPr>
          <p:cNvSpPr/>
          <p:nvPr/>
        </p:nvSpPr>
        <p:spPr>
          <a:xfrm>
            <a:off x="6367749" y="3734718"/>
            <a:ext cx="969485" cy="6830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F75914-8BE9-AACC-2E69-37E17752730F}"/>
              </a:ext>
            </a:extLst>
          </p:cNvPr>
          <p:cNvSpPr txBox="1"/>
          <p:nvPr/>
        </p:nvSpPr>
        <p:spPr>
          <a:xfrm>
            <a:off x="5772838" y="3916763"/>
            <a:ext cx="594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 a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D04D50-5D83-EEB1-E572-C1D94BEA7A81}"/>
              </a:ext>
            </a:extLst>
          </p:cNvPr>
          <p:cNvSpPr/>
          <p:nvPr/>
        </p:nvSpPr>
        <p:spPr>
          <a:xfrm>
            <a:off x="8282608" y="2994152"/>
            <a:ext cx="1368167" cy="1522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操作数栈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1602DD8-DC61-3071-3599-A2C559604150}"/>
              </a:ext>
            </a:extLst>
          </p:cNvPr>
          <p:cNvSpPr/>
          <p:nvPr/>
        </p:nvSpPr>
        <p:spPr>
          <a:xfrm>
            <a:off x="8653670" y="3916763"/>
            <a:ext cx="612013" cy="50100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568B76-8310-2C20-7496-C974F71DE311}"/>
              </a:ext>
            </a:extLst>
          </p:cNvPr>
          <p:cNvSpPr/>
          <p:nvPr/>
        </p:nvSpPr>
        <p:spPr>
          <a:xfrm>
            <a:off x="925417" y="1916935"/>
            <a:ext cx="1791279" cy="57520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426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2" grpId="0" animBg="1"/>
      <p:bldP spid="13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31692-8636-3E7B-2106-645639D52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A52D92CE-D6B7-DA73-D73C-D300550B3DD7}"/>
              </a:ext>
            </a:extLst>
          </p:cNvPr>
          <p:cNvGrpSpPr/>
          <p:nvPr/>
        </p:nvGrpSpPr>
        <p:grpSpPr>
          <a:xfrm>
            <a:off x="5453349" y="1476260"/>
            <a:ext cx="4197427" cy="3498123"/>
            <a:chOff x="5453349" y="1476260"/>
            <a:chExt cx="4197427" cy="349812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40A2C57-7275-94F9-DFCF-262BB4B7B43B}"/>
                </a:ext>
              </a:extLst>
            </p:cNvPr>
            <p:cNvSpPr/>
            <p:nvPr/>
          </p:nvSpPr>
          <p:spPr>
            <a:xfrm>
              <a:off x="5453349" y="1476260"/>
              <a:ext cx="4197427" cy="304065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A9D65E9-4FC9-A8AF-B617-9D2DEF20923C}"/>
                </a:ext>
              </a:extLst>
            </p:cNvPr>
            <p:cNvSpPr txBox="1"/>
            <p:nvPr/>
          </p:nvSpPr>
          <p:spPr>
            <a:xfrm>
              <a:off x="6610119" y="4605051"/>
              <a:ext cx="2137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Java</a:t>
              </a:r>
              <a:r>
                <a:rPr lang="zh-CN" altLang="en-US" dirty="0"/>
                <a:t>虚拟机栈内存</a:t>
              </a:r>
            </a:p>
          </p:txBody>
        </p:sp>
      </p:grpSp>
      <p:sp>
        <p:nvSpPr>
          <p:cNvPr id="6" name="标题 3">
            <a:extLst>
              <a:ext uri="{FF2B5EF4-FFF2-40B4-BE49-F238E27FC236}">
                <a16:creationId xmlns:a16="http://schemas.microsoft.com/office/drawing/2014/main" id="{74524022-0E99-7E9D-8379-DF1736D23973}"/>
              </a:ext>
            </a:extLst>
          </p:cNvPr>
          <p:cNvSpPr txBox="1"/>
          <p:nvPr/>
        </p:nvSpPr>
        <p:spPr>
          <a:xfrm>
            <a:off x="687916" y="559331"/>
            <a:ext cx="4188883" cy="5752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spc="300" dirty="0">
                <a:solidFill>
                  <a:srgbClr val="008080"/>
                </a:solidFill>
              </a:rPr>
              <a:t>案例</a:t>
            </a:r>
            <a:r>
              <a:rPr lang="en-US" altLang="zh-CN" sz="3200" b="1" spc="300" dirty="0">
                <a:solidFill>
                  <a:srgbClr val="008080"/>
                </a:solidFill>
              </a:rPr>
              <a:t>(2)</a:t>
            </a:r>
            <a:endParaRPr lang="zh-CN" altLang="en-US" sz="3200" b="1" spc="300" dirty="0">
              <a:solidFill>
                <a:srgbClr val="008080"/>
              </a:solidFill>
            </a:endParaRPr>
          </a:p>
          <a:p>
            <a:endParaRPr lang="zh-CN" altLang="en-US" sz="3200" b="1" spc="300" dirty="0">
              <a:solidFill>
                <a:srgbClr val="00808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97B5714-6365-C76F-9ED8-305BC6AC31DC}"/>
              </a:ext>
            </a:extLst>
          </p:cNvPr>
          <p:cNvSpPr txBox="1"/>
          <p:nvPr/>
        </p:nvSpPr>
        <p:spPr>
          <a:xfrm>
            <a:off x="925417" y="1916935"/>
            <a:ext cx="16299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3200" dirty="0"/>
              <a:t>int a = 1;</a:t>
            </a:r>
          </a:p>
          <a:p>
            <a:r>
              <a:rPr lang="pt-BR" altLang="zh-CN" sz="3200" dirty="0"/>
              <a:t>a = a++;</a:t>
            </a:r>
            <a:endParaRPr lang="zh-CN" altLang="en-US" sz="32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13DA336-737E-38E0-03F3-21E0FF07DF53}"/>
              </a:ext>
            </a:extLst>
          </p:cNvPr>
          <p:cNvGrpSpPr/>
          <p:nvPr/>
        </p:nvGrpSpPr>
        <p:grpSpPr>
          <a:xfrm>
            <a:off x="5453349" y="2822388"/>
            <a:ext cx="4197427" cy="1694528"/>
            <a:chOff x="5453349" y="2822388"/>
            <a:chExt cx="4197427" cy="169452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3269C8D-9278-00CB-ECA8-9073E886C5A8}"/>
                </a:ext>
              </a:extLst>
            </p:cNvPr>
            <p:cNvSpPr/>
            <p:nvPr/>
          </p:nvSpPr>
          <p:spPr>
            <a:xfrm>
              <a:off x="5453349" y="2822388"/>
              <a:ext cx="4197427" cy="1694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7D31BD0-B654-2DEC-9DCF-15CC32DDF575}"/>
                </a:ext>
              </a:extLst>
            </p:cNvPr>
            <p:cNvSpPr txBox="1"/>
            <p:nvPr/>
          </p:nvSpPr>
          <p:spPr>
            <a:xfrm>
              <a:off x="5501089" y="2822388"/>
              <a:ext cx="11090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main</a:t>
              </a:r>
              <a:r>
                <a:rPr lang="zh-CN" altLang="en-US" dirty="0"/>
                <a:t>方法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81CECBEB-844A-E2AC-7FE5-667F354D74D0}"/>
              </a:ext>
            </a:extLst>
          </p:cNvPr>
          <p:cNvSpPr/>
          <p:nvPr/>
        </p:nvSpPr>
        <p:spPr>
          <a:xfrm>
            <a:off x="6367749" y="3734718"/>
            <a:ext cx="969485" cy="6830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6907EB-622A-29CE-0ADC-BD6682E1762F}"/>
              </a:ext>
            </a:extLst>
          </p:cNvPr>
          <p:cNvSpPr txBox="1"/>
          <p:nvPr/>
        </p:nvSpPr>
        <p:spPr>
          <a:xfrm>
            <a:off x="5772838" y="3916763"/>
            <a:ext cx="594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 a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55442D-CDF6-4C58-081D-D111C243C6B5}"/>
              </a:ext>
            </a:extLst>
          </p:cNvPr>
          <p:cNvSpPr/>
          <p:nvPr/>
        </p:nvSpPr>
        <p:spPr>
          <a:xfrm>
            <a:off x="8282608" y="2994152"/>
            <a:ext cx="1368167" cy="1522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操作数栈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C6E83A0-2887-0DC9-F0C2-11810350C1AD}"/>
              </a:ext>
            </a:extLst>
          </p:cNvPr>
          <p:cNvSpPr/>
          <p:nvPr/>
        </p:nvSpPr>
        <p:spPr>
          <a:xfrm>
            <a:off x="8653670" y="3916763"/>
            <a:ext cx="612013" cy="50100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31F852-0BD6-EEB6-4744-7FFC88F5D5DA}"/>
              </a:ext>
            </a:extLst>
          </p:cNvPr>
          <p:cNvSpPr/>
          <p:nvPr/>
        </p:nvSpPr>
        <p:spPr>
          <a:xfrm>
            <a:off x="925417" y="1916935"/>
            <a:ext cx="1791279" cy="57520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8AC0E1D-8BF7-D883-E54E-11495324C69E}"/>
              </a:ext>
            </a:extLst>
          </p:cNvPr>
          <p:cNvSpPr/>
          <p:nvPr/>
        </p:nvSpPr>
        <p:spPr>
          <a:xfrm>
            <a:off x="6367749" y="3734718"/>
            <a:ext cx="969485" cy="6830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07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8B128-C17E-C21D-CC04-90DD91CA7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38B47113-9C79-0257-36FE-82364C000752}"/>
              </a:ext>
            </a:extLst>
          </p:cNvPr>
          <p:cNvGrpSpPr/>
          <p:nvPr/>
        </p:nvGrpSpPr>
        <p:grpSpPr>
          <a:xfrm>
            <a:off x="5453349" y="1476260"/>
            <a:ext cx="4197427" cy="3498123"/>
            <a:chOff x="5453349" y="1476260"/>
            <a:chExt cx="4197427" cy="349812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8D30B24-32C9-1143-E0D1-970BB0128B7A}"/>
                </a:ext>
              </a:extLst>
            </p:cNvPr>
            <p:cNvSpPr/>
            <p:nvPr/>
          </p:nvSpPr>
          <p:spPr>
            <a:xfrm>
              <a:off x="5453349" y="1476260"/>
              <a:ext cx="4197427" cy="304065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BB6B244-1B5D-55DE-E3AF-D8ED44076275}"/>
                </a:ext>
              </a:extLst>
            </p:cNvPr>
            <p:cNvSpPr txBox="1"/>
            <p:nvPr/>
          </p:nvSpPr>
          <p:spPr>
            <a:xfrm>
              <a:off x="6610119" y="4605051"/>
              <a:ext cx="2137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Java</a:t>
              </a:r>
              <a:r>
                <a:rPr lang="zh-CN" altLang="en-US" dirty="0"/>
                <a:t>虚拟机栈内存</a:t>
              </a:r>
            </a:p>
          </p:txBody>
        </p:sp>
      </p:grpSp>
      <p:sp>
        <p:nvSpPr>
          <p:cNvPr id="6" name="标题 3">
            <a:extLst>
              <a:ext uri="{FF2B5EF4-FFF2-40B4-BE49-F238E27FC236}">
                <a16:creationId xmlns:a16="http://schemas.microsoft.com/office/drawing/2014/main" id="{833EC7A2-C425-7541-567C-1C9FEE9FC02A}"/>
              </a:ext>
            </a:extLst>
          </p:cNvPr>
          <p:cNvSpPr txBox="1"/>
          <p:nvPr/>
        </p:nvSpPr>
        <p:spPr>
          <a:xfrm>
            <a:off x="687916" y="559331"/>
            <a:ext cx="4188883" cy="5752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spc="300" dirty="0">
                <a:solidFill>
                  <a:srgbClr val="008080"/>
                </a:solidFill>
              </a:rPr>
              <a:t>案例</a:t>
            </a:r>
            <a:r>
              <a:rPr lang="en-US" altLang="zh-CN" sz="3200" b="1" spc="300" dirty="0">
                <a:solidFill>
                  <a:srgbClr val="008080"/>
                </a:solidFill>
              </a:rPr>
              <a:t>(2)</a:t>
            </a:r>
            <a:endParaRPr lang="zh-CN" altLang="en-US" sz="3200" b="1" spc="300" dirty="0">
              <a:solidFill>
                <a:srgbClr val="008080"/>
              </a:solidFill>
            </a:endParaRPr>
          </a:p>
          <a:p>
            <a:endParaRPr lang="zh-CN" altLang="en-US" sz="3200" b="1" spc="300" dirty="0">
              <a:solidFill>
                <a:srgbClr val="00808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CFDEE7-6D34-991C-4D6E-001840B0E680}"/>
              </a:ext>
            </a:extLst>
          </p:cNvPr>
          <p:cNvSpPr txBox="1"/>
          <p:nvPr/>
        </p:nvSpPr>
        <p:spPr>
          <a:xfrm>
            <a:off x="925417" y="1916935"/>
            <a:ext cx="16299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3200" dirty="0"/>
              <a:t>int a = 1;</a:t>
            </a:r>
          </a:p>
          <a:p>
            <a:r>
              <a:rPr lang="pt-BR" altLang="zh-CN" sz="3200" dirty="0"/>
              <a:t>a = a++;</a:t>
            </a:r>
            <a:endParaRPr lang="zh-CN" altLang="en-US" sz="32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E6A232E-8257-2369-54CC-4072E0B9796D}"/>
              </a:ext>
            </a:extLst>
          </p:cNvPr>
          <p:cNvGrpSpPr/>
          <p:nvPr/>
        </p:nvGrpSpPr>
        <p:grpSpPr>
          <a:xfrm>
            <a:off x="5453349" y="2822388"/>
            <a:ext cx="4197427" cy="1694528"/>
            <a:chOff x="5453349" y="2822388"/>
            <a:chExt cx="4197427" cy="169452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4C1FF2E-E17C-714F-6BB5-D0CBEB99CCD0}"/>
                </a:ext>
              </a:extLst>
            </p:cNvPr>
            <p:cNvSpPr/>
            <p:nvPr/>
          </p:nvSpPr>
          <p:spPr>
            <a:xfrm>
              <a:off x="5453349" y="2822388"/>
              <a:ext cx="4197427" cy="1694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08C93B5-AB5D-DBFC-7708-F402610409E3}"/>
                </a:ext>
              </a:extLst>
            </p:cNvPr>
            <p:cNvSpPr txBox="1"/>
            <p:nvPr/>
          </p:nvSpPr>
          <p:spPr>
            <a:xfrm>
              <a:off x="5501089" y="2822388"/>
              <a:ext cx="11090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main</a:t>
              </a:r>
              <a:r>
                <a:rPr lang="zh-CN" altLang="en-US" dirty="0"/>
                <a:t>方法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E0050B49-6176-4275-8115-FC18F8F01F9C}"/>
              </a:ext>
            </a:extLst>
          </p:cNvPr>
          <p:cNvSpPr/>
          <p:nvPr/>
        </p:nvSpPr>
        <p:spPr>
          <a:xfrm>
            <a:off x="6367749" y="3734718"/>
            <a:ext cx="969485" cy="6830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BA183D-41EC-DB52-F526-B5D864F6B3FA}"/>
              </a:ext>
            </a:extLst>
          </p:cNvPr>
          <p:cNvSpPr txBox="1"/>
          <p:nvPr/>
        </p:nvSpPr>
        <p:spPr>
          <a:xfrm>
            <a:off x="5772838" y="3916763"/>
            <a:ext cx="594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 a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2100A2-5E30-5948-634A-C7F4BE0626D7}"/>
              </a:ext>
            </a:extLst>
          </p:cNvPr>
          <p:cNvSpPr/>
          <p:nvPr/>
        </p:nvSpPr>
        <p:spPr>
          <a:xfrm>
            <a:off x="8282608" y="2994152"/>
            <a:ext cx="1368167" cy="1522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操作数栈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EA43A9F-E1DC-747E-D5CF-29134445F1B2}"/>
              </a:ext>
            </a:extLst>
          </p:cNvPr>
          <p:cNvSpPr/>
          <p:nvPr/>
        </p:nvSpPr>
        <p:spPr>
          <a:xfrm>
            <a:off x="8653670" y="3916763"/>
            <a:ext cx="612013" cy="50100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E388C8-EAD0-8C8F-8A67-0768946D02C2}"/>
              </a:ext>
            </a:extLst>
          </p:cNvPr>
          <p:cNvSpPr/>
          <p:nvPr/>
        </p:nvSpPr>
        <p:spPr>
          <a:xfrm>
            <a:off x="6367749" y="3743607"/>
            <a:ext cx="969485" cy="6830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39046B0-B03A-208D-6744-380A1B6EFD15}"/>
              </a:ext>
            </a:extLst>
          </p:cNvPr>
          <p:cNvSpPr/>
          <p:nvPr/>
        </p:nvSpPr>
        <p:spPr>
          <a:xfrm>
            <a:off x="832652" y="2442023"/>
            <a:ext cx="1791279" cy="57520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6A16D71-9F31-068C-96D4-235EB9E92146}"/>
              </a:ext>
            </a:extLst>
          </p:cNvPr>
          <p:cNvSpPr txBox="1"/>
          <p:nvPr/>
        </p:nvSpPr>
        <p:spPr>
          <a:xfrm>
            <a:off x="583095" y="4167263"/>
            <a:ext cx="795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a++</a:t>
            </a:r>
            <a:endParaRPr lang="zh-CN" altLang="en-US" sz="3200" dirty="0"/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780CAD5E-2BE2-ABDE-E97E-09903023EC67}"/>
              </a:ext>
            </a:extLst>
          </p:cNvPr>
          <p:cNvSpPr/>
          <p:nvPr/>
        </p:nvSpPr>
        <p:spPr>
          <a:xfrm>
            <a:off x="1486685" y="4069778"/>
            <a:ext cx="373297" cy="974580"/>
          </a:xfrm>
          <a:prstGeom prst="leftBrace">
            <a:avLst/>
          </a:prstGeom>
          <a:noFill/>
          <a:ln w="19050" cap="rnd" cmpd="dbl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B97D34F-4E3F-A186-E39B-DDF4A164CB6F}"/>
              </a:ext>
            </a:extLst>
          </p:cNvPr>
          <p:cNvSpPr txBox="1"/>
          <p:nvPr/>
        </p:nvSpPr>
        <p:spPr>
          <a:xfrm>
            <a:off x="1917699" y="4844303"/>
            <a:ext cx="950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a</a:t>
            </a:r>
            <a:r>
              <a:rPr lang="zh-CN" altLang="en-US" sz="2000" dirty="0"/>
              <a:t>自增</a:t>
            </a:r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1C45CB1-CDD0-DEA6-2AFE-64247C5F288B}"/>
              </a:ext>
            </a:extLst>
          </p:cNvPr>
          <p:cNvSpPr txBox="1"/>
          <p:nvPr/>
        </p:nvSpPr>
        <p:spPr>
          <a:xfrm>
            <a:off x="1848778" y="3883749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取</a:t>
            </a:r>
            <a:r>
              <a:rPr lang="en-US" altLang="zh-CN" sz="2000" dirty="0"/>
              <a:t>a</a:t>
            </a:r>
            <a:r>
              <a:rPr lang="zh-CN" altLang="en-US" sz="2000" dirty="0"/>
              <a:t>的值</a:t>
            </a:r>
          </a:p>
        </p:txBody>
      </p:sp>
    </p:spTree>
    <p:extLst>
      <p:ext uri="{BB962C8B-B14F-4D97-AF65-F5344CB8AC3E}">
        <p14:creationId xmlns:p14="http://schemas.microsoft.com/office/powerpoint/2010/main" val="327619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D21B5-06F0-D949-0B3B-37BA3F67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63FBEA56-1427-A9A3-2767-6F741385C693}"/>
              </a:ext>
            </a:extLst>
          </p:cNvPr>
          <p:cNvGrpSpPr/>
          <p:nvPr/>
        </p:nvGrpSpPr>
        <p:grpSpPr>
          <a:xfrm>
            <a:off x="5453349" y="1476260"/>
            <a:ext cx="4197427" cy="3498123"/>
            <a:chOff x="5453349" y="1476260"/>
            <a:chExt cx="4197427" cy="349812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61355D9-3BCF-4ADD-B2D5-F40D8672A35F}"/>
                </a:ext>
              </a:extLst>
            </p:cNvPr>
            <p:cNvSpPr/>
            <p:nvPr/>
          </p:nvSpPr>
          <p:spPr>
            <a:xfrm>
              <a:off x="5453349" y="1476260"/>
              <a:ext cx="4197427" cy="304065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96E6AB7-11DD-7EE0-CE17-22833153EE51}"/>
                </a:ext>
              </a:extLst>
            </p:cNvPr>
            <p:cNvSpPr txBox="1"/>
            <p:nvPr/>
          </p:nvSpPr>
          <p:spPr>
            <a:xfrm>
              <a:off x="6610119" y="4605051"/>
              <a:ext cx="2137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Java</a:t>
              </a:r>
              <a:r>
                <a:rPr lang="zh-CN" altLang="en-US" dirty="0"/>
                <a:t>虚拟机栈内存</a:t>
              </a:r>
            </a:p>
          </p:txBody>
        </p:sp>
      </p:grpSp>
      <p:sp>
        <p:nvSpPr>
          <p:cNvPr id="6" name="标题 3">
            <a:extLst>
              <a:ext uri="{FF2B5EF4-FFF2-40B4-BE49-F238E27FC236}">
                <a16:creationId xmlns:a16="http://schemas.microsoft.com/office/drawing/2014/main" id="{2C7093FB-CCD4-370A-A7D5-3B39CE196B0E}"/>
              </a:ext>
            </a:extLst>
          </p:cNvPr>
          <p:cNvSpPr txBox="1"/>
          <p:nvPr/>
        </p:nvSpPr>
        <p:spPr>
          <a:xfrm>
            <a:off x="687916" y="559331"/>
            <a:ext cx="4188883" cy="5752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spc="300" dirty="0">
                <a:solidFill>
                  <a:srgbClr val="008080"/>
                </a:solidFill>
              </a:rPr>
              <a:t>案例</a:t>
            </a:r>
            <a:r>
              <a:rPr lang="en-US" altLang="zh-CN" sz="3200" b="1" spc="300" dirty="0">
                <a:solidFill>
                  <a:srgbClr val="008080"/>
                </a:solidFill>
              </a:rPr>
              <a:t>(2)</a:t>
            </a:r>
            <a:endParaRPr lang="zh-CN" altLang="en-US" sz="3200" b="1" spc="300" dirty="0">
              <a:solidFill>
                <a:srgbClr val="00808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B8551A2-89F6-5DC7-0157-86EE0A2EEDC1}"/>
              </a:ext>
            </a:extLst>
          </p:cNvPr>
          <p:cNvSpPr txBox="1"/>
          <p:nvPr/>
        </p:nvSpPr>
        <p:spPr>
          <a:xfrm>
            <a:off x="925417" y="1916935"/>
            <a:ext cx="16299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3200" dirty="0"/>
              <a:t>int a = 1;</a:t>
            </a:r>
          </a:p>
          <a:p>
            <a:r>
              <a:rPr lang="pt-BR" altLang="zh-CN" sz="3200" dirty="0"/>
              <a:t>a = ++a;</a:t>
            </a:r>
            <a:endParaRPr lang="zh-CN" altLang="en-US" sz="32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83BEE67-A5F6-5C2C-CBC0-E445FEAB998C}"/>
              </a:ext>
            </a:extLst>
          </p:cNvPr>
          <p:cNvGrpSpPr/>
          <p:nvPr/>
        </p:nvGrpSpPr>
        <p:grpSpPr>
          <a:xfrm>
            <a:off x="5453349" y="2822388"/>
            <a:ext cx="4197427" cy="1694528"/>
            <a:chOff x="5453349" y="2822388"/>
            <a:chExt cx="4197427" cy="169452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43BEB0D-DEB2-8AB6-3FB0-D309A77E3E32}"/>
                </a:ext>
              </a:extLst>
            </p:cNvPr>
            <p:cNvSpPr/>
            <p:nvPr/>
          </p:nvSpPr>
          <p:spPr>
            <a:xfrm>
              <a:off x="5453349" y="2822388"/>
              <a:ext cx="4197427" cy="1694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B466AE8-43B2-6C7B-7656-3EFFBC61AA5F}"/>
                </a:ext>
              </a:extLst>
            </p:cNvPr>
            <p:cNvSpPr txBox="1"/>
            <p:nvPr/>
          </p:nvSpPr>
          <p:spPr>
            <a:xfrm>
              <a:off x="5501089" y="2822388"/>
              <a:ext cx="11090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main</a:t>
              </a:r>
              <a:r>
                <a:rPr lang="zh-CN" altLang="en-US" dirty="0"/>
                <a:t>方法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303EE5E0-0B6E-FA64-F007-CCA773F34743}"/>
              </a:ext>
            </a:extLst>
          </p:cNvPr>
          <p:cNvSpPr txBox="1"/>
          <p:nvPr/>
        </p:nvSpPr>
        <p:spPr>
          <a:xfrm>
            <a:off x="5772838" y="3916763"/>
            <a:ext cx="594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 a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26FC05-9A4F-1C6B-ADDF-AECBC7C09B45}"/>
              </a:ext>
            </a:extLst>
          </p:cNvPr>
          <p:cNvSpPr/>
          <p:nvPr/>
        </p:nvSpPr>
        <p:spPr>
          <a:xfrm>
            <a:off x="8282608" y="2994152"/>
            <a:ext cx="1368167" cy="1522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F797071-D6A4-0A05-3940-689FA7E6C5E4}"/>
              </a:ext>
            </a:extLst>
          </p:cNvPr>
          <p:cNvSpPr/>
          <p:nvPr/>
        </p:nvSpPr>
        <p:spPr>
          <a:xfrm>
            <a:off x="8653670" y="3916763"/>
            <a:ext cx="612013" cy="50100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01FD59-2FEC-1774-D775-46A2251350A8}"/>
              </a:ext>
            </a:extLst>
          </p:cNvPr>
          <p:cNvSpPr/>
          <p:nvPr/>
        </p:nvSpPr>
        <p:spPr>
          <a:xfrm>
            <a:off x="6367749" y="3743607"/>
            <a:ext cx="969485" cy="6830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32AAC2-B490-7DFE-82F4-BCAEF79C6AAD}"/>
              </a:ext>
            </a:extLst>
          </p:cNvPr>
          <p:cNvSpPr/>
          <p:nvPr/>
        </p:nvSpPr>
        <p:spPr>
          <a:xfrm>
            <a:off x="6369984" y="3742281"/>
            <a:ext cx="969485" cy="6830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rgbClr val="7030A0"/>
                </a:solidFill>
              </a:rPr>
              <a:t>1</a:t>
            </a:r>
            <a:endParaRPr lang="zh-CN" altLang="en-US" sz="2800" b="1" dirty="0">
              <a:solidFill>
                <a:srgbClr val="7030A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482C52-5541-DD8E-D389-F8975174170F}"/>
              </a:ext>
            </a:extLst>
          </p:cNvPr>
          <p:cNvSpPr/>
          <p:nvPr/>
        </p:nvSpPr>
        <p:spPr>
          <a:xfrm>
            <a:off x="832652" y="2442023"/>
            <a:ext cx="1791279" cy="57520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26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68401" y="2967335"/>
            <a:ext cx="10710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spc="300">
                <a:solidFill>
                  <a:srgbClr val="008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尚硅谷让天下没有难学的技术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GuidesStyle_Narrow&quot;,&quot;Kind&quot;:0,&quot;OldGuidesSetting&quot;:{&quot;HeaderHeight&quot;:10.0,&quot;FooterHeight&quot;:5.0,&quot;SideMargin&quot;:2.5,&quot;TopMargin&quot;:0.0,&quot;BottomMargin&quot;:0.0,&quot;IntervalMargin&quot;:1.0}}"/>
  <p:tag name="COMMONDATA" val="eyJoZGlkIjoiMjU0YzZhNmMxMjZhOTQxODJkYTk5MDY1YmU0NmQ3YzEifQ=="/>
  <p:tag name="RESOURCE_RECORD_KEY" val="{&quot;71&quot;:[76235679512]}"/>
</p:tagLst>
</file>

<file path=ppt/theme/theme1.xml><?xml version="1.0" encoding="utf-8"?>
<a:theme xmlns:a="http://schemas.openxmlformats.org/drawingml/2006/main" name="WPS">
  <a:themeElements>
    <a:clrScheme name="">
      <a:dk1>
        <a:srgbClr val="000000"/>
      </a:dk1>
      <a:lt1>
        <a:srgbClr val="FFFFFF"/>
      </a:lt1>
      <a:dk2>
        <a:srgbClr val="133930"/>
      </a:dk2>
      <a:lt2>
        <a:srgbClr val="F6FCFA"/>
      </a:lt2>
      <a:accent1>
        <a:srgbClr val="318F79"/>
      </a:accent1>
      <a:accent2>
        <a:srgbClr val="60BA91"/>
      </a:accent2>
      <a:accent3>
        <a:srgbClr val="78B47F"/>
      </a:accent3>
      <a:accent4>
        <a:srgbClr val="83A45A"/>
      </a:accent4>
      <a:accent5>
        <a:srgbClr val="A8A95A"/>
      </a:accent5>
      <a:accent6>
        <a:srgbClr val="C0A348"/>
      </a:accent6>
      <a:hlink>
        <a:srgbClr val="658BD5"/>
      </a:hlink>
      <a:folHlink>
        <a:srgbClr val="A16AA5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a:style>
    </a:spDef>
    <a:lnDef>
      <a:spPr>
        <a:ln w="38100" cap="rnd" cmpd="dbl">
          <a:gradFill flip="none" rotWithShape="1">
            <a:gsLst>
              <a:gs pos="0">
                <a:srgbClr val="FF0000"/>
              </a:gs>
              <a:gs pos="74000">
                <a:schemeClr val="accent1">
                  <a:lumMod val="45000"/>
                  <a:lumOff val="55000"/>
                </a:schemeClr>
              </a:gs>
              <a:gs pos="89000">
                <a:schemeClr val="accent1">
                  <a:lumMod val="45000"/>
                  <a:lumOff val="55000"/>
                </a:schemeClr>
              </a:gs>
              <a:gs pos="85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prstDash val="sysDot"/>
          <a:tailEnd type="triangle"/>
        </a:ln>
      </a:spPr>
      <a:bodyPr/>
      <a:lstStyle/>
      <a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266</Words>
  <Application>Microsoft Office PowerPoint</Application>
  <PresentationFormat>宽屏</PresentationFormat>
  <Paragraphs>110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华文行楷</vt:lpstr>
      <vt:lpstr>微软雅黑</vt:lpstr>
      <vt:lpstr>Arial</vt:lpstr>
      <vt:lpstr>Calibri</vt:lpstr>
      <vt:lpstr>WPS</vt:lpstr>
      <vt:lpstr>自增自减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Docker快速上手</dc:title>
  <dc:creator>lfy</dc:creator>
  <cp:lastModifiedBy>finally_mm@163.com</cp:lastModifiedBy>
  <cp:revision>1629</cp:revision>
  <dcterms:created xsi:type="dcterms:W3CDTF">2023-08-09T12:44:00Z</dcterms:created>
  <dcterms:modified xsi:type="dcterms:W3CDTF">2024-11-27T08:18:27Z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40DD85E731474241A133494C57E57F35_12</vt:lpwstr>
  </property>
  <property fmtid="{D5CDD505-2E9C-101B-9397-08002B2CF9AE}" pid="3" name="KSOProductBuildVer">
    <vt:lpwstr>2052-12.1.0.16929</vt:lpwstr>
  </property>
</Properties>
</file>